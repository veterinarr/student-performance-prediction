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6320043327917344"/>
          <c:y val="3.8512060992375946E-2"/>
          <c:w val="0.77396887889013877"/>
          <c:h val="0.76445069366329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0-5</c:v>
                </c:pt>
                <c:pt idx="1">
                  <c:v>6-8</c:v>
                </c:pt>
                <c:pt idx="2">
                  <c:v>9-11</c:v>
                </c:pt>
                <c:pt idx="3">
                  <c:v>12-14</c:v>
                </c:pt>
                <c:pt idx="4">
                  <c:v>15-17</c:v>
                </c:pt>
                <c:pt idx="5">
                  <c:v>18-20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68</c:v>
                </c:pt>
                <c:pt idx="2">
                  <c:v>112</c:v>
                </c:pt>
                <c:pt idx="3">
                  <c:v>98</c:v>
                </c:pt>
                <c:pt idx="4">
                  <c:v>62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ED-45CD-AF71-C8DA298D0E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Final Grade Range (G3)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Number of Students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9.9130139982502183E-2"/>
          <c:y val="2.5868207446291435E-2"/>
          <c:w val="0.80086986001749783"/>
          <c:h val="0.7709937299504228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Linear Reg</c:v>
                </c:pt>
                <c:pt idx="1">
                  <c:v>Random Forest</c:v>
                </c:pt>
                <c:pt idx="2">
                  <c:v>Gradient 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0.85699999999999998</c:v>
                </c:pt>
                <c:pt idx="1">
                  <c:v>0.88200000000000001</c:v>
                </c:pt>
                <c:pt idx="2">
                  <c:v>0.89500000000000002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9C-4880-B856-CA57BA9A35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Model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2"/>
          <c:min val="0.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R² Score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6295931758530183"/>
          <c:y val="6.1728395061728392E-2"/>
          <c:w val="0.79239421776823349"/>
          <c:h val="0.8528032954214056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Age</c:v>
                </c:pt>
                <c:pt idx="1">
                  <c:v>Absences</c:v>
                </c:pt>
                <c:pt idx="2">
                  <c:v>Failures</c:v>
                </c:pt>
                <c:pt idx="3">
                  <c:v>G1</c:v>
                </c:pt>
                <c:pt idx="4">
                  <c:v>G2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0.03</c:v>
                </c:pt>
                <c:pt idx="1">
                  <c:v>0.06</c:v>
                </c:pt>
                <c:pt idx="2">
                  <c:v>0.09</c:v>
                </c:pt>
                <c:pt idx="3">
                  <c:v>0.22</c:v>
                </c:pt>
                <c:pt idx="4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88-42D8-81F1-7416B7C6CE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Importance Score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5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7983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0700" y="742950"/>
            <a:ext cx="7082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spcAft>
                <a:spcPts val="9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Performance Prediction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030700" y="2228850"/>
            <a:ext cx="708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21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Machine Learning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2800350"/>
            <a:ext cx="6667500" cy="1181100"/>
          </a:xfrm>
          <a:prstGeom prst="roundRect">
            <a:avLst>
              <a:gd name="adj" fmla="val 967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1333" y="2971800"/>
            <a:ext cx="61013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Members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521333" y="3333750"/>
            <a:ext cx="6101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Tulyugaliyev Alibek • Rollanov Kaisar • Zaitov Ifrat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21333" y="3619500"/>
            <a:ext cx="61013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SIS-2207 • IITU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30700" y="4248150"/>
            <a:ext cx="7082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Bef>
                <a:spcPts val="21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Instructor: Professor Dr. Abdul Razaque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50326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90500" y="1495425"/>
            <a:ext cx="4229100" cy="99060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19075" y="1495425"/>
            <a:ext cx="0" cy="990600"/>
          </a:xfrm>
          <a:prstGeom prst="line">
            <a:avLst/>
          </a:prstGeom>
          <a:noFill/>
          <a:ln w="571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476250" y="1724025"/>
            <a:ext cx="3789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Problem &amp; Dataset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6250" y="2066925"/>
            <a:ext cx="37890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UCI Student Performance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24400" y="1495425"/>
            <a:ext cx="4229100" cy="99060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52975" y="1495425"/>
            <a:ext cx="0" cy="990600"/>
          </a:xfrm>
          <a:prstGeom prst="line">
            <a:avLst/>
          </a:prstGeom>
          <a:noFill/>
          <a:ln w="571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5010150" y="1724025"/>
            <a:ext cx="3789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Data Analysis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10150" y="2066925"/>
            <a:ext cx="37890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EDA &amp; Preprocessing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0500" y="2638425"/>
            <a:ext cx="4229100" cy="99060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19075" y="2638425"/>
            <a:ext cx="0" cy="990600"/>
          </a:xfrm>
          <a:prstGeom prst="line">
            <a:avLst/>
          </a:prstGeom>
          <a:noFill/>
          <a:ln w="571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476250" y="2867025"/>
            <a:ext cx="3789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Model Development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6250" y="3209925"/>
            <a:ext cx="37890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ML algorithms tested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24400" y="2638425"/>
            <a:ext cx="4229100" cy="99060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52975" y="2638425"/>
            <a:ext cx="0" cy="990600"/>
          </a:xfrm>
          <a:prstGeom prst="line">
            <a:avLst/>
          </a:prstGeom>
          <a:noFill/>
          <a:ln w="571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5010150" y="2867025"/>
            <a:ext cx="3789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Results &amp; Insights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10150" y="3209925"/>
            <a:ext cx="37890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metrics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0500" y="3781425"/>
            <a:ext cx="4486275" cy="99060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19075" y="3781425"/>
            <a:ext cx="0" cy="990600"/>
          </a:xfrm>
          <a:prstGeom prst="line">
            <a:avLst/>
          </a:prstGeom>
          <a:noFill/>
          <a:ln w="571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476250" y="4010025"/>
            <a:ext cx="40513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Conclusions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6250" y="4352925"/>
            <a:ext cx="40513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Limitations &amp; future work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76250" y="1630710"/>
            <a:ext cx="8191500" cy="777180"/>
          </a:xfrm>
          <a:prstGeom prst="roundRect">
            <a:avLst>
              <a:gd name="adj" fmla="val 7844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04850" y="1859310"/>
            <a:ext cx="788898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we predict students' final grades to enable early intervention?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6250" y="2903190"/>
            <a:ext cx="83553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6250" y="339849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6750" y="3322290"/>
            <a:ext cx="4271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Early Intervention:</a:t>
            </a:r>
            <a:r>
              <a:rPr lang="en-US" sz="120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Identify at-risk students before it's too late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6250" y="370329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6750" y="3627090"/>
            <a:ext cx="35824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Optimization:</a:t>
            </a:r>
            <a:r>
              <a:rPr lang="en-US" sz="120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Allocate tutoring efficiently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6250" y="400809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6750" y="3931890"/>
            <a:ext cx="40320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Personalized Learning:</a:t>
            </a:r>
            <a:r>
              <a:rPr lang="en-US" sz="120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Tailor strategies to student needs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76250" y="1152525"/>
            <a:ext cx="3584823" cy="12192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04850" y="1381125"/>
            <a:ext cx="31901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04850" y="1609725"/>
            <a:ext cx="31901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UCI Repository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04850" y="1952625"/>
            <a:ext cx="31901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Performance Dataset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6250" y="2524125"/>
            <a:ext cx="3584823" cy="12192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4850" y="2752725"/>
            <a:ext cx="31901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04850" y="2981325"/>
            <a:ext cx="31901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4850" y="3324225"/>
            <a:ext cx="31901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Mathematics Course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6250" y="3895725"/>
            <a:ext cx="3584823" cy="12192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4850" y="4124325"/>
            <a:ext cx="31901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4850" y="4352925"/>
            <a:ext cx="31901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4850" y="4695825"/>
            <a:ext cx="31901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+ 7 engineered = 40 total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65873" y="1285875"/>
            <a:ext cx="43879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Categories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18273" y="1857375"/>
            <a:ext cx="4077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18273" y="2124075"/>
            <a:ext cx="40770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Age, gender, address, family size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65873" y="2543175"/>
            <a:ext cx="4301877" cy="76200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18273" y="2695575"/>
            <a:ext cx="4077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History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18273" y="2962275"/>
            <a:ext cx="40770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Study time, failures, grades (G1, G2)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65873" y="3381375"/>
            <a:ext cx="4301877" cy="7620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18273" y="3533775"/>
            <a:ext cx="4077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Factors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18273" y="3800475"/>
            <a:ext cx="40770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Family relations, free time, activities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65873" y="4219575"/>
            <a:ext cx="4301877" cy="7620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18273" y="4371975"/>
            <a:ext cx="4077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School-Related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8273" y="4638675"/>
            <a:ext cx="40770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choice, travel time, absences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Preprocessing</a:t>
            </a:r>
            <a:endParaRPr lang="en-US" sz="3600" dirty="0"/>
          </a:p>
        </p:txBody>
      </p:sp>
      <p:pic>
        <p:nvPicPr>
          <p:cNvPr id="3" name="Image 0" descr="/tmp/rasterized-gradient-340202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952625"/>
            <a:ext cx="3429000" cy="1485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6750" y="2143125"/>
            <a:ext cx="3108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Quality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66750" y="2524125"/>
            <a:ext cx="31089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Zero missing values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66750" y="2790825"/>
            <a:ext cx="31089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Zero duplicates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66750" y="3057525"/>
            <a:ext cx="31089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All 395 students retained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6250" y="3590925"/>
            <a:ext cx="3429000" cy="72390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76250" y="3590925"/>
            <a:ext cx="3497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Encoding Applied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76250" y="3933825"/>
            <a:ext cx="34975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Label encoding for categorical variables (school, sex, address, etc.)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210050" y="1770757"/>
            <a:ext cx="45468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Engineering (7 New Features)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210050" y="2189857"/>
            <a:ext cx="4457700" cy="527596"/>
          </a:xfrm>
          <a:prstGeom prst="roundRect">
            <a:avLst>
              <a:gd name="adj" fmla="val 1083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305300" y="230118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705350" y="2285107"/>
            <a:ext cx="39444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total_prev_grades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05350" y="2475607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G1 + G2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210050" y="2793653"/>
            <a:ext cx="4457700" cy="527596"/>
          </a:xfrm>
          <a:prstGeom prst="roundRect">
            <a:avLst>
              <a:gd name="adj" fmla="val 1083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305300" y="2904976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705350" y="2888903"/>
            <a:ext cx="39444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avg_prev_grade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705350" y="3079403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(G1 + G2) / 2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210050" y="3397448"/>
            <a:ext cx="4457700" cy="527596"/>
          </a:xfrm>
          <a:prstGeom prst="roundRect">
            <a:avLst>
              <a:gd name="adj" fmla="val 1083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305300" y="3508772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705350" y="3492698"/>
            <a:ext cx="39444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study_failure_ratio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705350" y="3683198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studytime / (failures + 1)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210050" y="4001244"/>
            <a:ext cx="4457700" cy="49530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305300" y="4096494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705350" y="4153644"/>
            <a:ext cx="39444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high_performer, social_score, parent_edu, alcohol_total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57710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Exploratory Data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891555"/>
            <a:ext cx="40222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Distribution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471040" y="4610100"/>
            <a:ext cx="16516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Distribution Chart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24400" y="1478310"/>
            <a:ext cx="40222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Statistics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24400" y="1897410"/>
            <a:ext cx="1933575" cy="838200"/>
          </a:xfrm>
          <a:prstGeom prst="roundRect">
            <a:avLst>
              <a:gd name="adj" fmla="val 7273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60512" y="2049810"/>
            <a:ext cx="16613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10.4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860512" y="2430810"/>
            <a:ext cx="16613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Mean Grade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34175" y="1897410"/>
            <a:ext cx="1933575" cy="838200"/>
          </a:xfrm>
          <a:prstGeom prst="roundRect">
            <a:avLst>
              <a:gd name="adj" fmla="val 7273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70287" y="2049810"/>
            <a:ext cx="16613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11.0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870287" y="2430810"/>
            <a:ext cx="16613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24400" y="2811810"/>
            <a:ext cx="3943350" cy="133350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76800" y="2964210"/>
            <a:ext cx="37113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Correlations with G3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76800" y="3269010"/>
            <a:ext cx="13384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G2 (2nd period grade)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76800" y="3535710"/>
            <a:ext cx="12929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G1 (1st period grade)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76800" y="3802410"/>
            <a:ext cx="8692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Failures (past)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24400" y="4221510"/>
            <a:ext cx="4095750" cy="624780"/>
          </a:xfrm>
          <a:prstGeom prst="roundRect">
            <a:avLst>
              <a:gd name="adj" fmla="val 1111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24400" y="4221510"/>
            <a:ext cx="40222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Insight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24400" y="4450110"/>
            <a:ext cx="402221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Previous grades are strongest predictors. Students with no failures average 10.9 vs 7.9 with failures.</a:t>
            </a:r>
            <a:endParaRPr lang="en-US" sz="900" dirty="0"/>
          </a:p>
        </p:txBody>
      </p:sp>
      <p:graphicFrame>
        <p:nvGraphicFramePr>
          <p:cNvPr id="20" name="Chart 0"/>
          <p:cNvGraphicFramePr/>
          <p:nvPr>
            <p:extLst>
              <p:ext uri="{D42A27DB-BD31-4B8C-83A1-F6EECF244321}">
                <p14:modId xmlns:p14="http://schemas.microsoft.com/office/powerpoint/2010/main" val="2704887733"/>
              </p:ext>
            </p:extLst>
          </p:nvPr>
        </p:nvGraphicFramePr>
        <p:xfrm>
          <a:off x="146504" y="1478310"/>
          <a:ext cx="3840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4108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Development</a:t>
            </a:r>
            <a:endParaRPr lang="en-US" sz="3600" dirty="0"/>
          </a:p>
        </p:txBody>
      </p:sp>
      <p:pic>
        <p:nvPicPr>
          <p:cNvPr id="3" name="Image 0" descr="/tmp/rasterized-gradient-70e606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683097"/>
            <a:ext cx="2527250" cy="15295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5325" y="1902172"/>
            <a:ext cx="796528" cy="222796"/>
          </a:xfrm>
          <a:prstGeom prst="roundRect">
            <a:avLst>
              <a:gd name="adj" fmla="val 1710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9625" y="1940272"/>
            <a:ext cx="5792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695325" y="2239268"/>
            <a:ext cx="21308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Linear Regression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95325" y="2620268"/>
            <a:ext cx="213088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 interpretable model to establish baseline performance</a:t>
            </a:r>
            <a:endParaRPr lang="en-US" sz="1050" dirty="0"/>
          </a:p>
        </p:txBody>
      </p:sp>
      <p:pic>
        <p:nvPicPr>
          <p:cNvPr id="8" name="Image 1" descr="/tmp/rasterized-gradient-d832a9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8300" y="1683097"/>
            <a:ext cx="2527250" cy="152950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27375" y="1902172"/>
            <a:ext cx="852785" cy="222796"/>
          </a:xfrm>
          <a:prstGeom prst="roundRect">
            <a:avLst>
              <a:gd name="adj" fmla="val 1710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3641675" y="1940272"/>
            <a:ext cx="6366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</a:t>
            </a:r>
            <a:endParaRPr lang="en-US" sz="825" dirty="0"/>
          </a:p>
        </p:txBody>
      </p:sp>
      <p:sp>
        <p:nvSpPr>
          <p:cNvPr id="11" name="Text 7"/>
          <p:cNvSpPr/>
          <p:nvPr/>
        </p:nvSpPr>
        <p:spPr>
          <a:xfrm>
            <a:off x="3527375" y="2239268"/>
            <a:ext cx="21308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527375" y="2620268"/>
            <a:ext cx="213088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Ensemble learning to capture non-linear patterns</a:t>
            </a:r>
            <a:endParaRPr lang="en-US" sz="1050" dirty="0"/>
          </a:p>
        </p:txBody>
      </p:sp>
      <p:pic>
        <p:nvPicPr>
          <p:cNvPr id="13" name="Image 2" descr="/tmp/rasterized-gradient-d8dc99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0351" y="1683097"/>
            <a:ext cx="2527250" cy="152950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59426" y="1902172"/>
            <a:ext cx="841921" cy="222796"/>
          </a:xfrm>
          <a:prstGeom prst="roundRect">
            <a:avLst>
              <a:gd name="adj" fmla="val 1710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6473726" y="1940272"/>
            <a:ext cx="6255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OPTIMIZED</a:t>
            </a:r>
            <a:endParaRPr lang="en-US" sz="825" dirty="0"/>
          </a:p>
        </p:txBody>
      </p:sp>
      <p:sp>
        <p:nvSpPr>
          <p:cNvPr id="16" name="Text 11"/>
          <p:cNvSpPr/>
          <p:nvPr/>
        </p:nvSpPr>
        <p:spPr>
          <a:xfrm>
            <a:off x="6359426" y="2239268"/>
            <a:ext cx="21308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Gradient Boosting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359426" y="2620268"/>
            <a:ext cx="213088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Boosting with GridSearchCV hyperparameter tuning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76250" y="3517404"/>
            <a:ext cx="3943350" cy="106680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476250" y="3517404"/>
            <a:ext cx="40222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Strategy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476250" y="3860304"/>
            <a:ext cx="40222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Train/Test Split: </a:t>
            </a:r>
            <a:r>
              <a:rPr lang="en-US" sz="10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80/20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76250" y="4127004"/>
            <a:ext cx="40222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Cross-Validation: </a:t>
            </a:r>
            <a:r>
              <a:rPr lang="en-US" sz="10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5-fold CV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76250" y="4393704"/>
            <a:ext cx="40222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Hyperparameter Tuning: </a:t>
            </a:r>
            <a:r>
              <a:rPr lang="en-US" sz="10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GridSearchCV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724400" y="3517404"/>
            <a:ext cx="3943350" cy="106680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4724400" y="3517404"/>
            <a:ext cx="40222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Metrics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4724400" y="3860304"/>
            <a:ext cx="40222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RMSE</a:t>
            </a: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Overall accuracy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4724400" y="4127004"/>
            <a:ext cx="40222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MAE</a:t>
            </a: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Average error magnitude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4724400" y="4393704"/>
            <a:ext cx="40222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R² Score</a:t>
            </a: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Variance explained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Performance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62025" y="848499"/>
            <a:ext cx="43879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Set Metrics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09548" y="4558457"/>
            <a:ext cx="29369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Comparison Chart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11231" y="1689795"/>
            <a:ext cx="3656519" cy="794296"/>
          </a:xfrm>
          <a:prstGeom prst="roundRect">
            <a:avLst>
              <a:gd name="adj" fmla="val 7675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82927" y="1689795"/>
            <a:ext cx="3656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82927" y="2032695"/>
            <a:ext cx="5835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R² SCORE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082927" y="2179290"/>
            <a:ext cx="58353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0.857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2754" y="2032695"/>
            <a:ext cx="4538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RMSE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8222754" y="2179290"/>
            <a:ext cx="453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1.66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11231" y="2560290"/>
            <a:ext cx="3656519" cy="794296"/>
          </a:xfrm>
          <a:prstGeom prst="roundRect">
            <a:avLst>
              <a:gd name="adj" fmla="val 7675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82927" y="2560290"/>
            <a:ext cx="3656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82927" y="2903190"/>
            <a:ext cx="5835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R² SCORE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082927" y="3049786"/>
            <a:ext cx="58353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0.882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2754" y="2903190"/>
            <a:ext cx="4538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RMSE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8222754" y="3049786"/>
            <a:ext cx="453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1.51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0131" y="3434007"/>
            <a:ext cx="3656519" cy="1139041"/>
          </a:xfrm>
          <a:prstGeom prst="roundRect">
            <a:avLst>
              <a:gd name="adj" fmla="val 5406"/>
            </a:avLst>
          </a:prstGeom>
          <a:solidFill>
            <a:srgbClr val="F59E0B"/>
          </a:solidFill>
          <a:ln w="28575">
            <a:solidFill>
              <a:srgbClr val="D9770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11502" y="3468886"/>
            <a:ext cx="979289" cy="190500"/>
          </a:xfrm>
          <a:prstGeom prst="roundRect">
            <a:avLst>
              <a:gd name="adj" fmla="val 20000"/>
            </a:avLst>
          </a:prstGeom>
          <a:solidFill>
            <a:srgbClr val="00000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87702" y="3497461"/>
            <a:ext cx="8434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🏆 BEST MODEL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111502" y="3735586"/>
            <a:ext cx="35982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11502" y="4078486"/>
            <a:ext cx="5835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R² SCORE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111502" y="4225082"/>
            <a:ext cx="9196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0.895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194179" y="4078486"/>
            <a:ext cx="4538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RMSE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7900416" y="4225082"/>
            <a:ext cx="7476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1.42</a:t>
            </a:r>
            <a:endParaRPr lang="en-US" sz="1800" dirty="0"/>
          </a:p>
        </p:txBody>
      </p:sp>
      <p:graphicFrame>
        <p:nvGraphicFramePr>
          <p:cNvPr id="25" name="Chart 0"/>
          <p:cNvGraphicFramePr/>
          <p:nvPr>
            <p:extLst>
              <p:ext uri="{D42A27DB-BD31-4B8C-83A1-F6EECF244321}">
                <p14:modId xmlns:p14="http://schemas.microsoft.com/office/powerpoint/2010/main" val="574188262"/>
              </p:ext>
            </p:extLst>
          </p:nvPr>
        </p:nvGraphicFramePr>
        <p:xfrm>
          <a:off x="285750" y="1281208"/>
          <a:ext cx="45720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63636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Importance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25018" y="738187"/>
            <a:ext cx="45468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Predictive Features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4519" y="4404170"/>
            <a:ext cx="23646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Importance Chart</a:t>
            </a:r>
            <a:endParaRPr lang="en-US" sz="1500" dirty="0"/>
          </a:p>
        </p:txBody>
      </p:sp>
      <p:pic>
        <p:nvPicPr>
          <p:cNvPr id="5" name="Image 0" descr="/tmp/rasterized-gradient-d70421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1057275"/>
            <a:ext cx="3429000" cy="1219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91150" y="1209675"/>
            <a:ext cx="31866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Important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91150" y="1514475"/>
            <a:ext cx="31866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G2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5391150" y="1933575"/>
            <a:ext cx="31866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 period grade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238750" y="2352675"/>
            <a:ext cx="3429000" cy="217170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391150" y="2505075"/>
            <a:ext cx="31866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5 Features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91150" y="2847975"/>
            <a:ext cx="10737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G2 (2nd grade)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943850" y="2905125"/>
            <a:ext cx="5715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391150" y="3171825"/>
            <a:ext cx="10281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G1 (1st grade)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086725" y="3228975"/>
            <a:ext cx="428625" cy="762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391150" y="3495675"/>
            <a:ext cx="6349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Failures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229600" y="3552825"/>
            <a:ext cx="285750" cy="76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391150" y="3819525"/>
            <a:ext cx="7411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Absences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305800" y="3876675"/>
            <a:ext cx="209550" cy="7620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391150" y="4143375"/>
            <a:ext cx="3857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Age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343900" y="4200525"/>
            <a:ext cx="171450" cy="762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1" name="Chart 0"/>
          <p:cNvGraphicFramePr/>
          <p:nvPr>
            <p:extLst>
              <p:ext uri="{D42A27DB-BD31-4B8C-83A1-F6EECF244321}">
                <p14:modId xmlns:p14="http://schemas.microsoft.com/office/powerpoint/2010/main" val="20404366"/>
              </p:ext>
            </p:extLst>
          </p:nvPr>
        </p:nvGraphicFramePr>
        <p:xfrm>
          <a:off x="115074" y="1046607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</a:t>
            </a:r>
            <a:endParaRPr lang="en-US" sz="3600" dirty="0"/>
          </a:p>
        </p:txBody>
      </p:sp>
      <p:pic>
        <p:nvPicPr>
          <p:cNvPr id="3" name="Image 0" descr="/tmp/rasterized-gradient-ec3951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42938"/>
            <a:ext cx="3943350" cy="169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6750" y="83343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66750" y="1404938"/>
            <a:ext cx="36335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Previous </a:t>
            </a:r>
            <a:r>
              <a:rPr lang="en-US" sz="135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</a:t>
            </a:r>
            <a:r>
              <a:rPr lang="ru-RU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</a:t>
            </a: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66750" y="1747838"/>
            <a:ext cx="363359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G1 and G2 are by far the strongest predictors (correlation 0.80 and 0.91 with G3)</a:t>
            </a:r>
            <a:endParaRPr lang="en-US" sz="1050" dirty="0"/>
          </a:p>
        </p:txBody>
      </p:sp>
      <p:pic>
        <p:nvPicPr>
          <p:cNvPr id="7" name="Image 1" descr="/tmp/rasterized-gradient-3bb4e5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642938"/>
            <a:ext cx="3943350" cy="1695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14900" y="83343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914900" y="1404938"/>
            <a:ext cx="36335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of Failures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914900" y="1747838"/>
            <a:ext cx="363359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with no past failures average 10.9 vs 7.9 for those with failures</a:t>
            </a:r>
            <a:endParaRPr lang="en-US" sz="1050" dirty="0"/>
          </a:p>
        </p:txBody>
      </p:sp>
      <p:pic>
        <p:nvPicPr>
          <p:cNvPr id="11" name="Image 2" descr="/tmp/rasterized-gradient-23a259a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490788"/>
            <a:ext cx="3943350" cy="14954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6750" y="268128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666750" y="3252788"/>
            <a:ext cx="36335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Study Time Matters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66750" y="3595688"/>
            <a:ext cx="36335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Positive correlation between study time and final grades</a:t>
            </a:r>
            <a:endParaRPr lang="en-US" sz="1050" dirty="0"/>
          </a:p>
        </p:txBody>
      </p:sp>
      <p:pic>
        <p:nvPicPr>
          <p:cNvPr id="15" name="Image 3" descr="/tmp/rasterized-gradient-641db6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400" y="2490788"/>
            <a:ext cx="3943350" cy="14954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914900" y="268128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4914900" y="3252788"/>
            <a:ext cx="36335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Aspirations Impact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914900" y="3595688"/>
            <a:ext cx="36335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Higher education aspiration shows positive predictive power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476250" y="4138613"/>
            <a:ext cx="8191500" cy="742950"/>
          </a:xfrm>
          <a:prstGeom prst="roundRect">
            <a:avLst>
              <a:gd name="adj" fmla="val 820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476250" y="4138613"/>
            <a:ext cx="83553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Comparison Summary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476250" y="4481513"/>
            <a:ext cx="83553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Gradient Boosting outperforms both Linear Regression and Random Forest, achieving R²=0.895 and RMSE=1.42. This means predictions are typically within ±1.42 grade points of actual scores on a 0-20 scale.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76250" y="1666875"/>
            <a:ext cx="3943350" cy="72390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95300" y="1666875"/>
            <a:ext cx="0" cy="72390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913954" y="1666875"/>
            <a:ext cx="35757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Limited Dataset Size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3954" y="1990725"/>
            <a:ext cx="357575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395 students may limit model generalization to other populations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24400" y="1766888"/>
            <a:ext cx="3943350" cy="523875"/>
          </a:xfrm>
          <a:prstGeom prst="roundRect">
            <a:avLst>
              <a:gd name="adj" fmla="val 1163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43450" y="1766888"/>
            <a:ext cx="0" cy="52387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5162104" y="1766888"/>
            <a:ext cx="321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Geographic Constraint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162104" y="2090738"/>
            <a:ext cx="32132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from Portuguese schools may not apply globally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6250" y="2543175"/>
            <a:ext cx="3943350" cy="72390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95300" y="2543175"/>
            <a:ext cx="0" cy="72390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913954" y="2543175"/>
            <a:ext cx="35757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Age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3954" y="2867025"/>
            <a:ext cx="357575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from 2008 — educational practices may have evolved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24400" y="2643188"/>
            <a:ext cx="3943350" cy="523875"/>
          </a:xfrm>
          <a:prstGeom prst="roundRect">
            <a:avLst>
              <a:gd name="adj" fmla="val 1163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43450" y="2643188"/>
            <a:ext cx="0" cy="523875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5162104" y="2643188"/>
            <a:ext cx="33849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Factors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162104" y="2967038"/>
            <a:ext cx="33849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data on motivation, teaching quality, or mental health</a:t>
            </a:r>
            <a:endParaRPr lang="en-US" sz="1050" dirty="0"/>
          </a:p>
        </p:txBody>
      </p:sp>
      <p:pic>
        <p:nvPicPr>
          <p:cNvPr id="19" name="Image 0" descr="/tmp/rasterized-gradient-043c6d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419475"/>
            <a:ext cx="8191500" cy="11811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56705" y="3609975"/>
            <a:ext cx="73649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Limitation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256705" y="3952875"/>
            <a:ext cx="7364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Heavy reliance on G1 and G2 limits utility for early prediction. Model works best after students have already completed 2/3 of the course.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7703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Improvements</a:t>
            </a:r>
            <a:endParaRPr lang="en-US" sz="3600" dirty="0"/>
          </a:p>
        </p:txBody>
      </p:sp>
      <p:pic>
        <p:nvPicPr>
          <p:cNvPr id="3" name="Image 0" descr="/tmp/rasterized-gradient-401fe6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419374"/>
            <a:ext cx="3943350" cy="11543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7700" y="1590824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104900" y="1628924"/>
            <a:ext cx="11693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Data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7700" y="2028974"/>
            <a:ext cx="367245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 recent, diverse data from multiple countries and institutions</a:t>
            </a:r>
            <a:endParaRPr lang="en-US" sz="1050" dirty="0"/>
          </a:p>
        </p:txBody>
      </p:sp>
      <p:pic>
        <p:nvPicPr>
          <p:cNvPr id="7" name="Image 1" descr="/tmp/rasterized-gradient-061055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1512689"/>
            <a:ext cx="3943350" cy="967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95850" y="1684139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5353050" y="1722239"/>
            <a:ext cx="11371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Features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895850" y="2122289"/>
            <a:ext cx="36724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 motivation, engagement, and mental health factors</a:t>
            </a:r>
            <a:endParaRPr lang="en-US" sz="1050" dirty="0"/>
          </a:p>
        </p:txBody>
      </p:sp>
      <p:pic>
        <p:nvPicPr>
          <p:cNvPr id="11" name="Image 2" descr="/tmp/rasterized-gradient-219dac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649885"/>
            <a:ext cx="3943350" cy="9676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7700" y="2821335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1104900" y="2859435"/>
            <a:ext cx="98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Time-Series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47700" y="3259485"/>
            <a:ext cx="36724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grade progression over time for better predictions</a:t>
            </a:r>
            <a:endParaRPr lang="en-US" sz="1050" dirty="0"/>
          </a:p>
        </p:txBody>
      </p:sp>
      <p:pic>
        <p:nvPicPr>
          <p:cNvPr id="15" name="Image 3" descr="/tmp/rasterized-gradient-f158c01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400" y="2649885"/>
            <a:ext cx="3943350" cy="9676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895850" y="2821335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5353050" y="2859435"/>
            <a:ext cx="11370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ML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895850" y="3259485"/>
            <a:ext cx="36724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XGBoost, LightGBM, and Neural Networks</a:t>
            </a:r>
            <a:endParaRPr lang="en-US" sz="1050" dirty="0"/>
          </a:p>
        </p:txBody>
      </p:sp>
      <p:pic>
        <p:nvPicPr>
          <p:cNvPr id="19" name="Image 4" descr="/tmp/rasterized-gradient-28e328a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3693765"/>
            <a:ext cx="3943350" cy="115431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7700" y="3865215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1104900" y="3903315"/>
            <a:ext cx="11693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Early Warning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647700" y="4303365"/>
            <a:ext cx="367245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system that works without G1/G2 for earlier intervention</a:t>
            </a:r>
            <a:endParaRPr lang="en-US" sz="1050" dirty="0"/>
          </a:p>
        </p:txBody>
      </p:sp>
      <p:pic>
        <p:nvPicPr>
          <p:cNvPr id="23" name="Image 5" descr="/tmp/rasterized-gradient-804c5b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4400" y="3787080"/>
            <a:ext cx="3943350" cy="9676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895850" y="395853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7"/>
          <p:cNvSpPr/>
          <p:nvPr/>
        </p:nvSpPr>
        <p:spPr>
          <a:xfrm>
            <a:off x="5353050" y="3996630"/>
            <a:ext cx="11274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Explainability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4895850" y="4396680"/>
            <a:ext cx="36724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interpretable recommendations for educators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9343" y="400050"/>
            <a:ext cx="6805166" cy="3962400"/>
          </a:xfrm>
          <a:prstGeom prst="roundRect">
            <a:avLst>
              <a:gd name="adj" fmla="val 4808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78509" y="685800"/>
            <a:ext cx="31866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spcAft>
                <a:spcPts val="1200"/>
              </a:spcAft>
              <a:buNone/>
            </a:pPr>
            <a:r>
              <a:rPr lang="en-US" sz="4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455093" y="1409700"/>
            <a:ext cx="6233666" cy="590550"/>
          </a:xfrm>
          <a:prstGeom prst="roundRect">
            <a:avLst>
              <a:gd name="adj" fmla="val 19355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48204" y="1562100"/>
            <a:ext cx="60474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Successfully predicted student performance with 89.5% accuracy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92756" y="2190750"/>
            <a:ext cx="63583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Identified key predictors of academic success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92756" y="2495550"/>
            <a:ext cx="63583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Compared multiple ML algorithms effectively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92756" y="2800350"/>
            <a:ext cx="63583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Provided actionable insights for educators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55093" y="3267075"/>
            <a:ext cx="6233666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1392756" y="3467100"/>
            <a:ext cx="63583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92756" y="3848100"/>
            <a:ext cx="63583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01291" y="4552950"/>
            <a:ext cx="69412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15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Tulyugaliyev Alibek • Rollanov Kaisar • Zaitov Ifrat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744</Words>
  <Application>Microsoft Office PowerPoint</Application>
  <PresentationFormat>Экран (16:9)</PresentationFormat>
  <Paragraphs>181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Prediction Using Machine Learning</dc:title>
  <dc:subject>PptxGenJS Presentation</dc:subject>
  <dc:creator>Team: Tulyugaliyev Alibek, Rollanov Kaisar, Zaitov Ifrat</dc:creator>
  <cp:lastModifiedBy>Kaisar Rollanov</cp:lastModifiedBy>
  <cp:revision>3</cp:revision>
  <dcterms:created xsi:type="dcterms:W3CDTF">2025-12-25T21:30:56Z</dcterms:created>
  <dcterms:modified xsi:type="dcterms:W3CDTF">2025-12-26T07:52:28Z</dcterms:modified>
</cp:coreProperties>
</file>